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31" r:id="rId2"/>
    <p:sldId id="285" r:id="rId3"/>
    <p:sldId id="268" r:id="rId4"/>
    <p:sldId id="283" r:id="rId5"/>
    <p:sldId id="284" r:id="rId6"/>
    <p:sldId id="278" r:id="rId7"/>
    <p:sldId id="279" r:id="rId8"/>
    <p:sldId id="286" r:id="rId9"/>
    <p:sldId id="280" r:id="rId10"/>
    <p:sldId id="333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6AEA9B-A21D-F678-5842-BDCAC899E54B}" name="De Legarreta, Juan P" initials="DP" userId="S::jpdelegarreta@cincinnatistate.edu::4b9222f2-1457-4505-b934-565bb5a1e60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E06D8-E330-4805-93F1-831EEB58EF6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99147-F1B2-446B-BD22-7E60BB525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7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56952-151E-21EB-3CB2-50522B2C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74A7C-FBDA-F5A2-CE45-950CA30E3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10E71-0A08-B386-452C-9CC625E3A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905A2-F1FE-B3BB-2DDF-FA5D845E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99147-F1B2-446B-BD22-7E60BB5250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21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75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6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9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8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4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7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2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1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1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3102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9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4516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0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32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4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9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C357-0D8B-4251-4C01-CBFC77460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9697-AB36-BA27-C0CA-9BE4C5368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57553"/>
            <a:ext cx="7766936" cy="1646302"/>
          </a:xfrm>
        </p:spPr>
        <p:txBody>
          <a:bodyPr/>
          <a:lstStyle/>
          <a:p>
            <a:r>
              <a:rPr lang="en-US"/>
              <a:t>Section 4 – Active Directory &amp; Identity Management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DA906-A72F-37EA-95B2-CCB1B7D5A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403852"/>
            <a:ext cx="7766936" cy="2894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Centralized authentication</a:t>
            </a:r>
          </a:p>
          <a:p>
            <a:r>
              <a:rPr lang="en-US" sz="2800"/>
              <a:t>Organized users and System OUs</a:t>
            </a:r>
          </a:p>
          <a:p>
            <a:r>
              <a:rPr lang="en-US" sz="2800"/>
              <a:t>Enforced security using Group Policy</a:t>
            </a:r>
          </a:p>
          <a:p>
            <a:endParaRPr lang="en-US" sz="2800"/>
          </a:p>
          <a:p>
            <a:endParaRPr lang="en-US"/>
          </a:p>
          <a:p>
            <a:endParaRPr lang="en-US" sz="2800"/>
          </a:p>
          <a:p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7306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CF30-1E0E-1E16-FC5A-F61C538F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75F1-307F-1572-AD83-8AFFE04F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Active Directory Implementation Steps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33674-37D3-5B4B-B53F-C67B72160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Installing and configuring AS DS, DNS, and DHCP as the core domain services.</a:t>
            </a:r>
          </a:p>
          <a:p>
            <a:r>
              <a:rPr lang="en-US"/>
              <a:t>Create the domain environment, including OU structure, user/group organization </a:t>
            </a:r>
          </a:p>
          <a:p>
            <a:r>
              <a:rPr lang="en-US"/>
              <a:t>Creating 10 user accounts and join two client systems to the domain</a:t>
            </a:r>
          </a:p>
          <a:p>
            <a:r>
              <a:rPr lang="en-US"/>
              <a:t>Implementation of GPOs </a:t>
            </a:r>
          </a:p>
          <a:p>
            <a:r>
              <a:rPr lang="en-US"/>
              <a:t>Verifying functionality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FC74-AC76-88EC-88CC-65D54CCB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84B4-4B6F-168A-1695-1F9260EA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Controller (Google Cloud VM)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DE19-F70E-DBE9-39C0-10F35C887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Hosted on Google Cloud VM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Promoted to Domain Controller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Installed AD DS and DNS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DHCP handled by Google Cloud networking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lvl="1" indent="-342900">
              <a:buFont typeface="Courier New" charset="2"/>
              <a:buChar char="o"/>
            </a:pPr>
            <a:endParaRPr lang="en-US"/>
          </a:p>
          <a:p>
            <a:pPr lvl="1" indent="-342900">
              <a:buFont typeface="Courier New" charset="2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4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D783-8FA7-5E57-2A1A-D301F5CF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73F5-900A-B170-47CE-6F72803C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Structure 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5924B8-B17F-087B-2A7A-8C3A751E2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28" t="6061" r="3050" b="-416"/>
          <a:stretch>
            <a:fillRect/>
          </a:stretch>
        </p:blipFill>
        <p:spPr>
          <a:xfrm>
            <a:off x="851299" y="2095393"/>
            <a:ext cx="5251327" cy="30097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BC0E60-F391-DA6A-4326-76D545D14C3C}"/>
              </a:ext>
            </a:extLst>
          </p:cNvPr>
          <p:cNvSpPr txBox="1"/>
          <p:nvPr/>
        </p:nvSpPr>
        <p:spPr>
          <a:xfrm>
            <a:off x="6636488" y="2108790"/>
            <a:ext cx="303913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Organized users and systems using OUs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Enabled targeted policy application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Improved management and access control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6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5915-ED59-A12E-511B-2B2AF743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490B-070D-D639-78E2-912AEAE6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7" cy="1320800"/>
          </a:xfrm>
        </p:spPr>
        <p:txBody>
          <a:bodyPr>
            <a:normAutofit/>
          </a:bodyPr>
          <a:lstStyle/>
          <a:p>
            <a:r>
              <a:rPr lang="en-US"/>
              <a:t>Active Directory Users and Computers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E1C910-5288-C2B9-D972-E0AAF55B5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" t="361" r="44648" b="-65"/>
          <a:stretch>
            <a:fillRect/>
          </a:stretch>
        </p:blipFill>
        <p:spPr>
          <a:xfrm>
            <a:off x="477840" y="2173209"/>
            <a:ext cx="3703895" cy="387080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3C64E0-DAA0-2FA0-EAA5-B904331A3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22" b="4"/>
          <a:stretch>
            <a:fillRect/>
          </a:stretch>
        </p:blipFill>
        <p:spPr>
          <a:xfrm>
            <a:off x="4624903" y="2159331"/>
            <a:ext cx="2625335" cy="3882362"/>
          </a:xfrm>
          <a:prstGeom prst="rect">
            <a:avLst/>
          </a:prstGeom>
        </p:spPr>
      </p:pic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8628FF1F-0AA1-D3E5-46E7-7980161E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789" y="2160589"/>
            <a:ext cx="2948121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Created and organized user accounts within the domain (LabUsers OU) </a:t>
            </a:r>
          </a:p>
          <a:p>
            <a:r>
              <a:rPr lang="en-US">
                <a:ea typeface="+mn-lt"/>
                <a:cs typeface="+mn-lt"/>
              </a:rPr>
              <a:t>Centralized user management through Active Directory </a:t>
            </a:r>
          </a:p>
          <a:p>
            <a:r>
              <a:rPr lang="en-US">
                <a:ea typeface="+mn-lt"/>
                <a:cs typeface="+mn-lt"/>
              </a:rPr>
              <a:t>Supports authentication and access control across systems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1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C822-2DC8-DB5C-E8BA-725502E9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AABB-366F-F6C0-09D5-7D42B80C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Policy Baseline (GPOs)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22CF-C105-08BA-58E7-4A81D2C1A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Goal</a:t>
            </a:r>
          </a:p>
          <a:p>
            <a:pPr lvl="1" indent="-342900"/>
            <a:r>
              <a:rPr lang="en-US"/>
              <a:t>Domain-level Group Policy implementation </a:t>
            </a:r>
          </a:p>
          <a:p>
            <a:pPr lvl="1" indent="-342900"/>
            <a:r>
              <a:rPr lang="en-US"/>
              <a:t>Enforce security controls </a:t>
            </a:r>
          </a:p>
          <a:p>
            <a:pPr marL="400050" lvl="1" indent="0">
              <a:buNone/>
            </a:pPr>
            <a:endParaRPr lang="en-US"/>
          </a:p>
          <a:p>
            <a:pPr marL="400050" lvl="1" indent="0">
              <a:buNone/>
            </a:pPr>
            <a:r>
              <a:rPr lang="en-US"/>
              <a:t>Key Policies:</a:t>
            </a:r>
          </a:p>
          <a:p>
            <a:pPr lvl="1" indent="-342900"/>
            <a:r>
              <a:rPr lang="en-US"/>
              <a:t>Password Policy  PR.AA-01</a:t>
            </a:r>
          </a:p>
          <a:p>
            <a:pPr lvl="1" indent="-342900"/>
            <a:r>
              <a:rPr lang="en-US"/>
              <a:t>Account Lockout Policy  PR.AA-01</a:t>
            </a:r>
          </a:p>
          <a:p>
            <a:pPr lvl="1" indent="-342900"/>
            <a:r>
              <a:rPr lang="en-US"/>
              <a:t>Audit Policy  PR.PS-04</a:t>
            </a:r>
          </a:p>
          <a:p>
            <a:pPr lvl="1" indent="-342900"/>
            <a:endParaRPr lang="en-US"/>
          </a:p>
          <a:p>
            <a:pPr marL="40005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0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0B87-8BE7-1C1C-24C1-756592CCC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495A-03B2-5B3A-AEDD-FD2BBC6A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/>
              <a:t>Group Policy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F438-0F11-56C7-9665-DE0F06F5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880773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71680A-72D4-8868-D632-94714511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770" b="2"/>
          <a:stretch>
            <a:fillRect/>
          </a:stretch>
        </p:blipFill>
        <p:spPr>
          <a:xfrm>
            <a:off x="677996" y="1928422"/>
            <a:ext cx="4415050" cy="3882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B413E-66C1-25DB-E041-BA4AD8122A74}"/>
              </a:ext>
            </a:extLst>
          </p:cNvPr>
          <p:cNvSpPr txBox="1"/>
          <p:nvPr/>
        </p:nvSpPr>
        <p:spPr>
          <a:xfrm>
            <a:off x="5342860" y="1842977"/>
            <a:ext cx="4409798" cy="2416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Created and linked Password &amp; Audit GPOs at the domain level </a:t>
            </a:r>
            <a:endParaRPr lang="en-US"/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Policies applied centrally to all domain users and systems </a:t>
            </a:r>
            <a:endParaRPr lang="en-US"/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Ensures consistent security enforcement across the environment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94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067E-B06D-73A0-BB7B-48CAB662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2152-786D-4905-CB28-FBCEF788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Password and Lockout Policy 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3B7D05-8DA8-8463-37CA-FAB046AF3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109" y="2159663"/>
            <a:ext cx="4669611" cy="182654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ABCA56-071F-0F77-67F0-F5699603D371}"/>
              </a:ext>
            </a:extLst>
          </p:cNvPr>
          <p:cNvSpPr txBox="1"/>
          <p:nvPr/>
        </p:nvSpPr>
        <p:spPr>
          <a:xfrm>
            <a:off x="6329363" y="2160589"/>
            <a:ext cx="2944638" cy="388077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 Verified domain password &amp; lockout policies using net accounts </a:t>
            </a:r>
          </a:p>
          <a:p>
            <a:pPr marL="285750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Enforced minimum password length and complexity requirements </a:t>
            </a:r>
          </a:p>
          <a:p>
            <a:pPr marL="285750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Configured account lockout threshold to prevent brute-force attacks </a:t>
            </a:r>
          </a:p>
          <a:p>
            <a:pPr marL="285750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Applied domain-level policy through Group Policy (GPO) 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Verification of policies using gpupdate /force, gpresult /r, net accounts </a:t>
            </a:r>
          </a:p>
        </p:txBody>
      </p:sp>
      <p:pic>
        <p:nvPicPr>
          <p:cNvPr id="4" name="Content Placeholder 3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3348F29A-BF16-6E58-A5E3-28AF75BBD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334" y="4369124"/>
            <a:ext cx="5421163" cy="1517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8609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EA37-1B4F-9319-AEFD-0007000A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A347-87E8-1A0C-7F58-FD790764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Audit policy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0519-27A0-C078-86A0-BB78E27EE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Enabled audit logging for login activity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Captures successful and failed authentication attempts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Verified using Event Viewer logs</a:t>
            </a:r>
            <a:endParaRPr lang="en-US"/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37BF90-A02A-0262-DC2D-F671A50C20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37" t="3813" r="-412" b="-3493"/>
          <a:stretch>
            <a:fillRect/>
          </a:stretch>
        </p:blipFill>
        <p:spPr>
          <a:xfrm>
            <a:off x="680108" y="3574165"/>
            <a:ext cx="8372145" cy="295844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74674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CC60-41F6-9AB9-B091-0EB8B7BE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355C-21AD-6B8A-FCDB-5BAC9108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8" y="4473226"/>
            <a:ext cx="8288035" cy="1096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Client Virtual Machines 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EEC7CD-7339-A13C-5960-0B71A459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834"/>
          <a:stretch>
            <a:fillRect/>
          </a:stretch>
        </p:blipFill>
        <p:spPr>
          <a:xfrm>
            <a:off x="985969" y="609600"/>
            <a:ext cx="4029716" cy="3635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1BAC3EC-BDCF-22F0-A4E2-2B9422F69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44" b="-1"/>
          <a:stretch>
            <a:fillRect/>
          </a:stretch>
        </p:blipFill>
        <p:spPr>
          <a:xfrm>
            <a:off x="5244286" y="608009"/>
            <a:ext cx="4029716" cy="3635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8086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CA67-BF8F-2637-5878-87EF50F4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FCB9-E2CB-B9D2-C2A9-962F5A75A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Section 5 - Automation &amp; Compliance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85668-C00A-3AD6-C0BC-1F78B6CBD0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Python Script</a:t>
            </a:r>
          </a:p>
          <a:p>
            <a:r>
              <a:rPr lang="en-US"/>
              <a:t>Rebuild &amp; Preparedness</a:t>
            </a:r>
          </a:p>
          <a:p>
            <a:r>
              <a:rPr lang="en-US"/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2625439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FC22-D43D-02FD-9AC4-A2AC8390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E1D4-5ED6-C5CE-23A6-E1C6DF6B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Example:</a:t>
            </a:r>
            <a:br>
              <a:rPr lang="en-US" dirty="0"/>
            </a:br>
            <a:r>
              <a:rPr lang="en-US" dirty="0"/>
              <a:t>Python Script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FC0E9-3E5F-B4DA-3A86-1609E1C545B4}"/>
              </a:ext>
            </a:extLst>
          </p:cNvPr>
          <p:cNvSpPr txBox="1"/>
          <p:nvPr/>
        </p:nvSpPr>
        <p:spPr>
          <a:xfrm>
            <a:off x="677334" y="2044700"/>
            <a:ext cx="8317037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ad_gpo_backup.py</a:t>
            </a:r>
          </a:p>
          <a:p>
            <a:endParaRPr lang="en-US" sz="2400" b="1">
              <a:solidFill>
                <a:schemeClr val="accent2"/>
              </a:solidFill>
              <a:latin typeface="+mj-lt"/>
            </a:endParaRPr>
          </a:p>
          <a:p>
            <a:r>
              <a:rPr lang="en-US" sz="2400" b="1">
                <a:solidFill>
                  <a:schemeClr val="accent2"/>
                </a:solidFill>
                <a:latin typeface="+mj-lt"/>
              </a:rPr>
              <a:t>Function</a:t>
            </a:r>
          </a:p>
          <a:p>
            <a:r>
              <a:rPr lang="en-US">
                <a:latin typeface="+mj-lt"/>
              </a:rPr>
              <a:t>Copies the GPOs from an Active Directory Domain Controller and saves them in a ZIP file inside a specified GCP Bucket.</a:t>
            </a:r>
          </a:p>
          <a:p>
            <a:endParaRPr lang="en-US">
              <a:latin typeface="+mj-lt"/>
            </a:endParaRPr>
          </a:p>
          <a:p>
            <a:r>
              <a:rPr lang="en-US" sz="2400" b="1">
                <a:solidFill>
                  <a:schemeClr val="accent2"/>
                </a:solidFill>
                <a:latin typeface="+mj-lt"/>
              </a:rPr>
              <a:t>Requirements</a:t>
            </a:r>
          </a:p>
          <a:p>
            <a:r>
              <a:rPr lang="en-US"/>
              <a:t>Download the following: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Python 3.8 (minimum; newer version preferable)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Python packages </a:t>
            </a:r>
            <a:r>
              <a:rPr lang="en-US" err="1"/>
              <a:t>pywinrm</a:t>
            </a:r>
            <a:r>
              <a:rPr lang="en-US"/>
              <a:t>, google-cloud-compute, google-cloud-storage, google-auth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GCP service account key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06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BCFD-2F17-6560-BDDA-5B2A1987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4C43-64D5-16F5-1C7C-AF2A1D78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Script Example Setup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8A37F5-D112-AEF4-EC47-FA13B1740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06" y="2508979"/>
            <a:ext cx="5618977" cy="17645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014726-C4AC-E3D7-FF61-9F2AA252E52E}"/>
              </a:ext>
            </a:extLst>
          </p:cNvPr>
          <p:cNvSpPr/>
          <p:nvPr/>
        </p:nvSpPr>
        <p:spPr>
          <a:xfrm>
            <a:off x="514864" y="2505677"/>
            <a:ext cx="5615458" cy="267728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4116D-08A3-99D7-1369-4700B2733E51}"/>
              </a:ext>
            </a:extLst>
          </p:cNvPr>
          <p:cNvSpPr txBox="1"/>
          <p:nvPr/>
        </p:nvSpPr>
        <p:spPr>
          <a:xfrm>
            <a:off x="6130324" y="2450756"/>
            <a:ext cx="27253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/>
                </a:solidFill>
                <a:ea typeface="+mn-lt"/>
                <a:cs typeface="+mn-lt"/>
              </a:rPr>
              <a:t>←</a:t>
            </a:r>
            <a:r>
              <a:rPr lang="en-US">
                <a:solidFill>
                  <a:schemeClr val="accent2"/>
                </a:solidFill>
              </a:rPr>
              <a:t> Run "</a:t>
            </a:r>
            <a:r>
              <a:rPr lang="en-US" err="1">
                <a:solidFill>
                  <a:schemeClr val="accent2"/>
                </a:solidFill>
              </a:rPr>
              <a:t>cmd</a:t>
            </a:r>
            <a:r>
              <a:rPr lang="en-US">
                <a:solidFill>
                  <a:schemeClr val="accent2"/>
                </a:solidFill>
              </a:rPr>
              <a:t>" from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A2B80E-8CB9-35D7-1F40-FA6DF746B8CD}"/>
              </a:ext>
            </a:extLst>
          </p:cNvPr>
          <p:cNvSpPr/>
          <p:nvPr/>
        </p:nvSpPr>
        <p:spPr>
          <a:xfrm>
            <a:off x="885567" y="3157837"/>
            <a:ext cx="5244757" cy="1853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556C5-7E22-42D7-6D31-D7CAF0AF9F71}"/>
              </a:ext>
            </a:extLst>
          </p:cNvPr>
          <p:cNvSpPr txBox="1"/>
          <p:nvPr/>
        </p:nvSpPr>
        <p:spPr>
          <a:xfrm>
            <a:off x="6130324" y="3082324"/>
            <a:ext cx="413264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←</a:t>
            </a:r>
            <a:r>
              <a:rPr lang="en-US" sz="1600"/>
              <a:t> Logs go here automatically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F2BB28-D677-300F-92EC-AAA2CDEDAFB1}"/>
              </a:ext>
            </a:extLst>
          </p:cNvPr>
          <p:cNvSpPr/>
          <p:nvPr/>
        </p:nvSpPr>
        <p:spPr>
          <a:xfrm>
            <a:off x="885567" y="3370648"/>
            <a:ext cx="5244757" cy="185351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F6688-7EE3-30D5-2DEE-1CC8E1FFE4D2}"/>
              </a:ext>
            </a:extLst>
          </p:cNvPr>
          <p:cNvSpPr txBox="1"/>
          <p:nvPr/>
        </p:nvSpPr>
        <p:spPr>
          <a:xfrm>
            <a:off x="6130324" y="3295135"/>
            <a:ext cx="413264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accent2"/>
                </a:solidFill>
                <a:ea typeface="+mn-lt"/>
                <a:cs typeface="+mn-lt"/>
              </a:rPr>
              <a:t>←</a:t>
            </a:r>
            <a:r>
              <a:rPr lang="en-US" sz="1600">
                <a:solidFill>
                  <a:schemeClr val="accent2"/>
                </a:solidFill>
              </a:rPr>
              <a:t> The script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059C6E-317D-802A-42A5-4DF48A449213}"/>
              </a:ext>
            </a:extLst>
          </p:cNvPr>
          <p:cNvSpPr/>
          <p:nvPr/>
        </p:nvSpPr>
        <p:spPr>
          <a:xfrm>
            <a:off x="885567" y="3583458"/>
            <a:ext cx="5244757" cy="1853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95064C-58B5-4E87-3534-32F352CE646C}"/>
              </a:ext>
            </a:extLst>
          </p:cNvPr>
          <p:cNvSpPr txBox="1"/>
          <p:nvPr/>
        </p:nvSpPr>
        <p:spPr>
          <a:xfrm>
            <a:off x="6130324" y="3507945"/>
            <a:ext cx="413264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←</a:t>
            </a:r>
            <a:r>
              <a:rPr lang="en-US" sz="1600"/>
              <a:t> Command with options already filled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A3C4F1-627A-DAC6-6A6D-0656C1B836CC}"/>
              </a:ext>
            </a:extLst>
          </p:cNvPr>
          <p:cNvSpPr/>
          <p:nvPr/>
        </p:nvSpPr>
        <p:spPr>
          <a:xfrm>
            <a:off x="885567" y="3796269"/>
            <a:ext cx="5244757" cy="185351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1FD8F-C778-3BED-433E-89E6B8ADAA29}"/>
              </a:ext>
            </a:extLst>
          </p:cNvPr>
          <p:cNvSpPr txBox="1"/>
          <p:nvPr/>
        </p:nvSpPr>
        <p:spPr>
          <a:xfrm>
            <a:off x="6130324" y="3720756"/>
            <a:ext cx="413264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accent2"/>
                </a:solidFill>
                <a:ea typeface="+mn-lt"/>
                <a:cs typeface="+mn-lt"/>
              </a:rPr>
              <a:t>←</a:t>
            </a:r>
            <a:r>
              <a:rPr lang="en-US" sz="1600">
                <a:solidFill>
                  <a:schemeClr val="accent2"/>
                </a:solidFill>
              </a:rPr>
              <a:t> GCP service account key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E371F6-1912-F322-6221-4D7ADBB21091}"/>
              </a:ext>
            </a:extLst>
          </p:cNvPr>
          <p:cNvSpPr/>
          <p:nvPr/>
        </p:nvSpPr>
        <p:spPr>
          <a:xfrm>
            <a:off x="885567" y="4009079"/>
            <a:ext cx="5244757" cy="1853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C54ACC-0391-6DCB-3700-1CD6B144C23F}"/>
              </a:ext>
            </a:extLst>
          </p:cNvPr>
          <p:cNvSpPr txBox="1"/>
          <p:nvPr/>
        </p:nvSpPr>
        <p:spPr>
          <a:xfrm>
            <a:off x="6130324" y="3933566"/>
            <a:ext cx="413264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←</a:t>
            </a:r>
            <a:r>
              <a:rPr lang="en-US" sz="1600"/>
              <a:t> File explaining how everything works</a:t>
            </a:r>
          </a:p>
        </p:txBody>
      </p:sp>
    </p:spTree>
    <p:extLst>
      <p:ext uri="{BB962C8B-B14F-4D97-AF65-F5344CB8AC3E}">
        <p14:creationId xmlns:p14="http://schemas.microsoft.com/office/powerpoint/2010/main" val="834079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B81B1-0F59-BDF2-2B0D-34C01A99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6E233C-9E73-D4FF-B145-39914DAA02FF}"/>
              </a:ext>
            </a:extLst>
          </p:cNvPr>
          <p:cNvSpPr txBox="1"/>
          <p:nvPr/>
        </p:nvSpPr>
        <p:spPr>
          <a:xfrm>
            <a:off x="754919" y="243841"/>
            <a:ext cx="831703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  <a:latin typeface="+mj-lt"/>
              </a:rPr>
              <a:t>Usage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/>
              <a:t>Open Command Prompt (cmd.exe)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/>
              <a:t>Set your VM’s </a:t>
            </a:r>
            <a:r>
              <a:rPr lang="en-US" err="1"/>
              <a:t>WinRM</a:t>
            </a:r>
            <a:r>
              <a:rPr lang="en-US"/>
              <a:t> password as an environment variable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/>
              <a:t>Run the script through Command Prompt, filling out each option with the necessary info and credentials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/>
              <a:t>The GPO backups should now be in the GCP bucket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8B62D-4680-E5FA-573A-17E13BBF940E}"/>
              </a:ext>
            </a:extLst>
          </p:cNvPr>
          <p:cNvSpPr txBox="1"/>
          <p:nvPr/>
        </p:nvSpPr>
        <p:spPr>
          <a:xfrm>
            <a:off x="754919" y="5253642"/>
            <a:ext cx="826285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To reinstate the GPOs in AD, simply download &amp; extract the backup on the DC, import it into PowerShell, and run the Restore-GPO command.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CF672-CF25-0636-5CE2-17D77298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70" y="2727186"/>
            <a:ext cx="6810375" cy="2295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4671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485D-A710-7E01-11B8-A7E799E7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7C01-F342-079A-8FE7-1BB219EC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Rebuilds &amp; Preparedness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75D84-5215-1F8A-B9D7-1880ACCB9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have done practice rebuilds of every part of our network: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Physical connections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Layer 2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Layer 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Servers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Firewall</a:t>
            </a:r>
          </a:p>
          <a:p>
            <a:r>
              <a:rPr lang="en-US"/>
              <a:t>Practice rebuilds were all timed and logged, creating data and documentation that are useful for both quality control </a:t>
            </a:r>
            <a:r>
              <a:rPr lang="en-US" b="1"/>
              <a:t>and</a:t>
            </a:r>
            <a:r>
              <a:rPr lang="en-US"/>
              <a:t> future reference if necessary.</a:t>
            </a:r>
          </a:p>
          <a:p>
            <a:r>
              <a:rPr lang="en-US"/>
              <a:t>Our rebuild experience and backups would allow us to quickly restore operation in the case of an emergency.</a:t>
            </a:r>
          </a:p>
        </p:txBody>
      </p:sp>
    </p:spTree>
    <p:extLst>
      <p:ext uri="{BB962C8B-B14F-4D97-AF65-F5344CB8AC3E}">
        <p14:creationId xmlns:p14="http://schemas.microsoft.com/office/powerpoint/2010/main" val="3786584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9869-AA56-D25A-43FF-E2D0A432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888F-AD49-FD7C-DD14-C2CA6D46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 &amp; L3 Rebuild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C6CAC6-7A12-A5A7-BDCB-4940FDB38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3025"/>
            <a:ext cx="8596668" cy="3880773"/>
          </a:xfrm>
        </p:spPr>
        <p:txBody>
          <a:bodyPr/>
          <a:lstStyle/>
          <a:p>
            <a:r>
              <a:rPr lang="en-US"/>
              <a:t>This is a snippet of the timed layers 2 &amp; 3 rebuild log.</a:t>
            </a:r>
          </a:p>
          <a:p>
            <a:r>
              <a:rPr lang="en-US"/>
              <a:t>The rest of the log is similarly detailed and timed just as accurately.</a:t>
            </a:r>
          </a:p>
          <a:p>
            <a:r>
              <a:rPr lang="en-US"/>
              <a:t>The final time for layers 2 &amp; 3 rebuild completion was: </a:t>
            </a:r>
            <a:r>
              <a:rPr lang="en-US" b="1"/>
              <a:t>156 minutes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DBD18D-79C2-D881-B1A8-DDC7FE8FC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3004457"/>
            <a:ext cx="11286066" cy="33201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01085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2B268-434A-FC3F-990D-5759F785B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9003-F0FA-00CC-E6BD-04A369DD6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Server Rebuild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654BBC2-7E91-B175-AF1F-58975A957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6" y="2620155"/>
            <a:ext cx="3720916" cy="3560733"/>
          </a:xfrm>
        </p:spPr>
        <p:txBody>
          <a:bodyPr>
            <a:normAutofit/>
          </a:bodyPr>
          <a:lstStyle/>
          <a:p>
            <a:r>
              <a:rPr lang="en-US"/>
              <a:t>This is a snippet of the timed server rebuild log.</a:t>
            </a:r>
          </a:p>
          <a:p>
            <a:r>
              <a:rPr lang="en-US"/>
              <a:t>The rest of the log is similarly detailed and timed just as accurately.</a:t>
            </a:r>
          </a:p>
          <a:p>
            <a:r>
              <a:rPr lang="en-US"/>
              <a:t>The final time for server rebuild completion was:</a:t>
            </a:r>
          </a:p>
          <a:p>
            <a:pPr marL="0" indent="0">
              <a:buNone/>
            </a:pPr>
            <a:r>
              <a:rPr lang="en-US" b="1"/>
              <a:t>		133 minutes</a:t>
            </a:r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525303-11F0-27D7-0558-54A3A36E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495" y="471647"/>
            <a:ext cx="4140293" cy="59147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57500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4918-92D2-86FB-8C0B-5AA8E7E2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A92B-0D28-BCB6-0627-34E2CC9FC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Firewall Rebuild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145611-B15C-8B52-CC12-788F24359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6" y="2620155"/>
            <a:ext cx="3720916" cy="3560733"/>
          </a:xfrm>
        </p:spPr>
        <p:txBody>
          <a:bodyPr>
            <a:normAutofit/>
          </a:bodyPr>
          <a:lstStyle/>
          <a:p>
            <a:r>
              <a:rPr lang="en-US"/>
              <a:t>This is a snippet of the timed firewall rebuild log.</a:t>
            </a:r>
          </a:p>
          <a:p>
            <a:r>
              <a:rPr lang="en-US"/>
              <a:t>The rest of the log is </a:t>
            </a:r>
            <a:r>
              <a:rPr lang="en-US" b="1"/>
              <a:t>even more detailed</a:t>
            </a:r>
            <a:r>
              <a:rPr lang="en-US"/>
              <a:t> and extensive.</a:t>
            </a:r>
            <a:endParaRPr lang="en-US" b="1"/>
          </a:p>
          <a:p>
            <a:r>
              <a:rPr lang="en-US"/>
              <a:t>The final time for firewall rebuild completion was:</a:t>
            </a:r>
          </a:p>
          <a:p>
            <a:pPr marL="0" indent="0">
              <a:buNone/>
            </a:pPr>
            <a:r>
              <a:rPr lang="en-US" b="1"/>
              <a:t>		 90 minutes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66F63-26BD-0D9F-0A9B-62E14D445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980" y="541301"/>
            <a:ext cx="5658640" cy="56395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13457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1292-ED78-9479-AE47-491107B6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A30E-1600-B720-BAC7-86B848CC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CSF Preparedness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06606-9D63-9BCE-7F2E-FE8996C67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have full compliance with several NIST CSF controls. Our top ones are: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PR.AA-01 – Managed credentials </a:t>
            </a:r>
            <a:r>
              <a:rPr lang="en-US" i="1"/>
              <a:t>(Already mentioned)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PR.PS-05 – Unauthorized software</a:t>
            </a:r>
            <a:endParaRPr lang="en-US" i="1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ID.AM-01 – Hardware inventory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ID.AM-02 – Software inventory</a:t>
            </a:r>
          </a:p>
          <a:p>
            <a:r>
              <a:rPr lang="en-US"/>
              <a:t>The script and rebuilds are progress towards additional controls: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PR.DS-11 – Backups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ID.IM-04 – Incident response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RC.RP-01 – Recovery plan</a:t>
            </a:r>
          </a:p>
        </p:txBody>
      </p:sp>
    </p:spTree>
    <p:extLst>
      <p:ext uri="{BB962C8B-B14F-4D97-AF65-F5344CB8AC3E}">
        <p14:creationId xmlns:p14="http://schemas.microsoft.com/office/powerpoint/2010/main" val="1375701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861C-5C8B-DDF1-6D2E-D0E6AE65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D87E-474D-7C36-8D9B-A30DF988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904" y="3042966"/>
            <a:ext cx="3373423" cy="77446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540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46683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5AB225-6CF8-4A41-A91D-1D3B14290845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736</Words>
  <Application>Microsoft Office PowerPoint</Application>
  <PresentationFormat>Widescreen</PresentationFormat>
  <Paragraphs>115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Courier New</vt:lpstr>
      <vt:lpstr>Trebuchet MS</vt:lpstr>
      <vt:lpstr>Wingdings 3</vt:lpstr>
      <vt:lpstr>Facet</vt:lpstr>
      <vt:lpstr>Section 4 – Active Directory &amp; Identity Management </vt:lpstr>
      <vt:lpstr>Active Directory Implementation Steps  </vt:lpstr>
      <vt:lpstr>Domain Controller (Google Cloud VM) </vt:lpstr>
      <vt:lpstr>Domain Structure </vt:lpstr>
      <vt:lpstr>Active Directory Users and Computers</vt:lpstr>
      <vt:lpstr>Group Policy Baseline (GPOs)</vt:lpstr>
      <vt:lpstr>Group Policy Management</vt:lpstr>
      <vt:lpstr>Password and Lockout Policy </vt:lpstr>
      <vt:lpstr>Audit policy </vt:lpstr>
      <vt:lpstr>Client Virtual Machines </vt:lpstr>
      <vt:lpstr>Section 5 - Automation &amp; Compliance</vt:lpstr>
      <vt:lpstr>Automation Example: Python Script Summary</vt:lpstr>
      <vt:lpstr>Python Script Example Setup</vt:lpstr>
      <vt:lpstr>PowerPoint Presentation</vt:lpstr>
      <vt:lpstr>Rebuilds &amp; Preparedness</vt:lpstr>
      <vt:lpstr>L2 &amp; L3 Rebuild</vt:lpstr>
      <vt:lpstr>Server Rebuild</vt:lpstr>
      <vt:lpstr>Firewall Rebuild</vt:lpstr>
      <vt:lpstr>NIST CSF Preparedness Controls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Bayron Mendoza</dc:creator>
  <cp:lastModifiedBy>De Legarreta, Juan P</cp:lastModifiedBy>
  <cp:revision>11</cp:revision>
  <dcterms:created xsi:type="dcterms:W3CDTF">2026-04-13T23:22:37Z</dcterms:created>
  <dcterms:modified xsi:type="dcterms:W3CDTF">2026-05-14T19:24:05Z</dcterms:modified>
</cp:coreProperties>
</file>